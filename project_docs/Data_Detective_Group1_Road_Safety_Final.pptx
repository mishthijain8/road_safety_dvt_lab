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15D8A"/>
          </a:solidFill>
          <a:ln w="12700">
            <a:solidFill>
              <a:srgbClr val="315D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CCP7005 | Data Visualization Techniques | Group 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fivethirtyeight/data/tree/master/bad-drivers" TargetMode="External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DETECTIVE CHALLENGE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13716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0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Accident &amp; Traffic Safety Analytics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20299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Innovative Self-Learning Activity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880360" y="2578608"/>
            <a:ext cx="6400800" cy="0"/>
          </a:xfrm>
          <a:prstGeom prst="line">
            <a:avLst/>
          </a:prstGeom>
          <a:noFill/>
          <a:ln w="19050">
            <a:solidFill>
              <a:srgbClr val="B7C9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2788920"/>
            <a:ext cx="82296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 Ramdeobaba College of Engineering and Management, Nagpur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B.Tech. Cyber Security | Semester VII | Session 2026–27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CCP7005 – Data Visualization Techniques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3886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1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194560" y="4370832"/>
            <a:ext cx="7818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– Arya Bhangadia     |     18 – Harshvardhan Tendulka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0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– Mishthi Jain       |     54 – Shreya Mishra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5349240"/>
            <a:ext cx="93268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compare state-level fatal-collision patterns and study their relationship with driver behaviour and insurance variables.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Interactive Dashboard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FiveThirtyEight bad-drivers dataset | 51 state/DC records | 8 original attributes | no missing or duplicate rows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61872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371600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Records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04088" y="1609344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247"/>
                </a:solidFill>
              </a:rPr>
              <a:t>51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108960" y="1261872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18688" y="1371600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Average rate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18688" y="1609344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247"/>
                </a:solidFill>
              </a:rPr>
              <a:t>15.79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623560" y="1261872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33288" y="1371600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Highest rate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33288" y="1609344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247"/>
                </a:solidFill>
              </a:rPr>
              <a:t>23.9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38160" y="1261872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371600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Missing values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47888" y="1609344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247"/>
                </a:solidFill>
              </a:rPr>
              <a:t>0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607040" y="12984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467"/>
                </a:solidFill>
              </a:rPr>
              <a:t>Source:</a:t>
            </a:r>
            <a:endParaRPr lang="en-US" sz="900" dirty="0"/>
          </a:p>
        </p:txBody>
      </p:sp>
      <p:sp>
        <p:nvSpPr>
          <p:cNvPr id="17" name="Text 15">
            <a:hlinkClick r:id="rId1" tooltip=""/>
          </p:cNvPr>
          <p:cNvSpPr/>
          <p:nvPr/>
        </p:nvSpPr>
        <p:spPr>
          <a:xfrm>
            <a:off x="10607040" y="151790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315D8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FiveThirtyEight</a:t>
            </a:r>
            <a:endParaRPr lang="en-US" sz="900" dirty="0"/>
          </a:p>
        </p:txBody>
      </p:sp>
      <p:pic>
        <p:nvPicPr>
          <p:cNvPr id="18" name="Image 0" descr="/mnt/data/Group1_Road_Safety_Final/screenshots/dashboard_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04288"/>
            <a:ext cx="7406640" cy="393192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8302752" y="2304288"/>
            <a:ext cx="3246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49640" y="2560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247"/>
                </a:solidFill>
              </a:rPr>
              <a:t>Dashboard features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549640" y="3063240"/>
            <a:ext cx="269748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4054"/>
                </a:solidFill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344054"/>
                </a:solidFill>
              </a:rPr>
              <a:t>Region, rate-range and state filters
</a:t>
            </a:r>
            <a:pPr indent="0" marL="0">
              <a:buNone/>
            </a:pPr>
            <a:r>
              <a:rPr lang="en-US" sz="1200" b="1" dirty="0">
                <a:solidFill>
                  <a:srgbClr val="344054"/>
                </a:solidFill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344054"/>
                </a:solidFill>
              </a:rPr>
              <a:t>Four KPI cards
</a:t>
            </a:r>
            <a:pPr indent="0" marL="0">
              <a:buNone/>
            </a:pPr>
            <a:r>
              <a:rPr lang="en-US" sz="1200" b="1" dirty="0">
                <a:solidFill>
                  <a:srgbClr val="344054"/>
                </a:solidFill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344054"/>
                </a:solidFill>
              </a:rPr>
              <a:t>Choropleth map
</a:t>
            </a:r>
            <a:pPr indent="0" marL="0">
              <a:buNone/>
            </a:pPr>
            <a:r>
              <a:rPr lang="en-US" sz="1200" b="1" dirty="0">
                <a:solidFill>
                  <a:srgbClr val="344054"/>
                </a:solidFill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344054"/>
                </a:solidFill>
              </a:rPr>
              <a:t>Top-state bar chart
</a:t>
            </a:r>
            <a:pPr indent="0" marL="0">
              <a:buNone/>
            </a:pPr>
            <a:r>
              <a:rPr lang="en-US" sz="1200" b="1" dirty="0">
                <a:solidFill>
                  <a:srgbClr val="344054"/>
                </a:solidFill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344054"/>
                </a:solidFill>
              </a:rPr>
              <a:t>Alcohol scatter plot
</a:t>
            </a:r>
            <a:pPr indent="0" marL="0">
              <a:buNone/>
            </a:pPr>
            <a:r>
              <a:rPr lang="en-US" sz="1200" b="1" dirty="0">
                <a:solidFill>
                  <a:srgbClr val="344054"/>
                </a:solidFill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344054"/>
                </a:solidFill>
              </a:rPr>
              <a:t>Regional box plot
</a:t>
            </a:r>
            <a:pPr indent="0" marL="0">
              <a:buNone/>
            </a:pPr>
            <a:r>
              <a:rPr lang="en-US" sz="1200" b="1" dirty="0">
                <a:solidFill>
                  <a:srgbClr val="344054"/>
                </a:solidFill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344054"/>
                </a:solidFill>
              </a:rPr>
              <a:t>Correlation heatmap
</a:t>
            </a:r>
            <a:pPr indent="0" marL="0">
              <a:buNone/>
            </a:pPr>
            <a:r>
              <a:rPr lang="en-US" sz="1200" b="1" dirty="0">
                <a:solidFill>
                  <a:srgbClr val="344054"/>
                </a:solidFill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344054"/>
                </a:solidFill>
              </a:rPr>
              <a:t>Wrong visualization + AI critique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549640" y="555955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5D8A"/>
                </a:solidFill>
              </a:rPr>
              <a:t>Built using Streamlit + Plotly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Analysed &amp; Main Findings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 is on insights and correct visualization choice, not on Python code.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5760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53619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247"/>
                </a:solidFill>
              </a:rPr>
              <a:t>Five analytical questions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2011680"/>
            <a:ext cx="5166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054"/>
                </a:solidFill>
              </a:rPr>
              <a:t>Q1. How does the fatal-collision rate vary geographically?  → Choropleth map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" y="2724912"/>
            <a:ext cx="5166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054"/>
                </a:solidFill>
              </a:rPr>
              <a:t>Q2. Which states have the highest fatal-collision rates?  → Sorted bar chart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3438144"/>
            <a:ext cx="5166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054"/>
                </a:solidFill>
              </a:rPr>
              <a:t>Q3. Is alcohol impairment related to the fatal-collision rate?  → Scatter plot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" y="4151376"/>
            <a:ext cx="5166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054"/>
                </a:solidFill>
              </a:rPr>
              <a:t>Q4. How do fatal-collision rates differ across regions?  → Box plot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1248" y="4864608"/>
            <a:ext cx="5166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054"/>
                </a:solidFill>
              </a:rPr>
              <a:t>Q5. Which numerical variables move together?  → Correlation heatmap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55595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5D8A"/>
                </a:solidFill>
              </a:rPr>
              <a:t>Wrong visualization challenge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5513832"/>
            <a:ext cx="31546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</a:rPr>
              <a:t>Bar chart (correct) vs pie chart of rates (misleading because rates are not parts of one whole).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65392" y="1298448"/>
            <a:ext cx="504748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53619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247"/>
                </a:solidFill>
              </a:rPr>
              <a:t>Five major findings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858000" y="1993392"/>
            <a:ext cx="4343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1. North Dakota and South Carolina have the highest rate: 23.9.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858000" y="2651760"/>
            <a:ext cx="4343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2. District of Columbia has the lowest rate: 5.9.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6858000" y="3310128"/>
            <a:ext cx="4343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3. Alcohol-impaired % has a weak positive relationship with the total rate (r ≈ 0.19).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6858000" y="3968496"/>
            <a:ext cx="4343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4. Speeding % has almost no linear relationship with the total rate (r ≈ -0.03).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858000" y="4626864"/>
            <a:ext cx="4343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5. Insurance cost does not directly follow the fatal-collision ranking.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6830568" y="54406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5D8A"/>
                </a:solidFill>
              </a:rPr>
              <a:t>3 recommendations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5376672"/>
            <a:ext cx="2834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</a:rPr>
              <a:t>Prioritize high-rate states • use multiple risk factors • add road/weather/time data in future work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Shri Ramdeobaba College of Engineering and Management, Nagpur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Accident &amp; Traffic Safety Analytics</dc:title>
  <dc:subject>Data Detective Challenge - Road Accident &amp; Traffic Safety Analytics</dc:subject>
  <dc:creator>Group 1</dc:creator>
  <cp:lastModifiedBy>Group 1</cp:lastModifiedBy>
  <cp:revision>1</cp:revision>
  <dcterms:created xsi:type="dcterms:W3CDTF">2026-10-03T09:39:54Z</dcterms:created>
  <dcterms:modified xsi:type="dcterms:W3CDTF">2026-10-03T09:39:54Z</dcterms:modified>
</cp:coreProperties>
</file>